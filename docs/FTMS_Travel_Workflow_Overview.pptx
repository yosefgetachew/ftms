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68E8CA-DBF5-4CC5-BA6D-C70B3645AF17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5D45"/>
                </a:solidFill>
              </a:defRPr>
            </a:pPr>
            <a:r>
              <a:rPr sz="1650" b="1">
                <a:solidFill>
                  <a:srgbClr val="0B5D45"/>
                </a:solidFill>
              </a:rPr>
              <a:t>Ministry of Agriculture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758BE2-C74B-46AA-BD6E-9DC8BE988B1B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8953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61A16"/>
                </a:solidFill>
              </a:defRPr>
            </a:pPr>
            <a:r>
              <a:rPr sz="4350" b="1">
                <a:solidFill>
                  <a:srgbClr val="061A16"/>
                </a:solidFill>
              </a:rPr>
              <a:t>FTMS Travel Request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BAAE6-CF60-435F-94F7-CCD987A5F49C}"/>
              </a:ext>
            </a:extLst>
          </p:cNvPr>
          <p:cNvSpPr>
            <a:spLocks noGrp="1"/>
          </p:cNvSpPr>
          <p:nvPr/>
        </p:nvSpPr>
        <p:spPr>
          <a:xfrm>
            <a:off x="419100" y="289560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High-level flow for traveler submission, approval routing, protocol clearance, PM Office decision, and completion.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CCA1F5-39EB-41FA-ACE9-0E9149E51E55}"/>
              </a:ext>
            </a:extLst>
          </p:cNvPr>
          <p:cNvSpPr>
            <a:spLocks noGrp="1"/>
          </p:cNvSpPr>
          <p:nvPr/>
        </p:nvSpPr>
        <p:spPr>
          <a:xfrm>
            <a:off x="8172450" y="2038350"/>
            <a:ext cx="3048000" cy="2000250"/>
          </a:xfrm>
          <a:prstGeom prst="roundRect">
            <a:avLst>
              <a:gd name="adj" fmla="val 5714"/>
            </a:avLst>
          </a:prstGeom>
          <a:solidFill>
            <a:srgbClr val="E7F5EF"/>
          </a:solidFill>
          <a:ln w="9525">
            <a:solidFill>
              <a:srgbClr val="B6E2CF"/>
            </a:solidFill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61A16"/>
                </a:solidFill>
              </a:defRPr>
            </a:pPr>
            <a:r>
              <a:rPr sz="1875" b="1">
                <a:solidFill>
                  <a:srgbClr val="061A16"/>
                </a:solidFill>
              </a:rPr>
              <a:t>One system</a:t>
            </a:r>
          </a:p>
          <a:p>
            <a:pPr algn="ctr">
              <a:defRPr sz="1875" b="1">
                <a:solidFill>
                  <a:srgbClr val="061A16"/>
                </a:solidFill>
              </a:defRPr>
            </a:pPr>
            <a:r>
              <a:rPr sz="1875" b="1">
                <a:solidFill>
                  <a:srgbClr val="061A16"/>
                </a:solidFill>
              </a:rPr>
              <a:t>Multiple routes</a:t>
            </a:r>
          </a:p>
          <a:p>
            <a:pPr algn="ctr">
              <a:defRPr sz="1875" b="1">
                <a:solidFill>
                  <a:srgbClr val="061A16"/>
                </a:solidFill>
              </a:defRPr>
            </a:pPr>
            <a:r>
              <a:rPr sz="1875" b="1">
                <a:solidFill>
                  <a:srgbClr val="061A16"/>
                </a:solidFill>
              </a:rPr>
              <a:t>One auditable decision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8A7E8-55CE-44A9-A63C-77E0C39943C6}"/>
              </a:ext>
            </a:extLst>
          </p:cNvPr>
          <p:cNvSpPr>
            <a:spLocks noGrp="1"/>
          </p:cNvSpPr>
          <p:nvPr/>
        </p:nvSpPr>
        <p:spPr>
          <a:xfrm>
            <a:off x="419100" y="565785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Prepared as a working overview for FTMS users and decision makers.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737A7-5DC4-408C-8D83-6365E3D50D81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1</a:t>
            </a:r>
          </a:p>
        </p:txBody>
      </p:sp>
    </p:spTree>
    <p:extLst>
      <p:ext uri="{BB962C8B-B14F-4D97-AF65-F5344CB8AC3E}">
        <p14:creationId xmlns:p14="http://schemas.microsoft.com/office/powerpoint/2010/main" val="178047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AC6E4BC-8B53-4958-BE82-2148C2CA16A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CC144-80A1-4186-AAB9-EEC082014C72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What FTMS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0F6B6-67A9-47DB-B8DF-F6D4C11A69B1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3E53B7-2664-4C33-8504-8D596A0AB66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324100" cy="742950"/>
          </a:xfrm>
          <a:prstGeom prst="roundRect">
            <a:avLst>
              <a:gd name="adj" fmla="val 15385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A16"/>
                </a:solidFill>
              </a:defRPr>
            </a:pPr>
            <a:r>
              <a:rPr sz="2100" b="1">
                <a:solidFill>
                  <a:srgbClr val="061A16"/>
                </a:solidFill>
              </a:rPr>
              <a:t>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FE9BE-54ED-4F2E-8B18-659F0600A46E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019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Traveler, approver, protocol, PM Office, admin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434163-54A5-4824-9719-47470E0A0439}"/>
              </a:ext>
            </a:extLst>
          </p:cNvPr>
          <p:cNvSpPr>
            <a:spLocks noGrp="1"/>
          </p:cNvSpPr>
          <p:nvPr/>
        </p:nvSpPr>
        <p:spPr>
          <a:xfrm>
            <a:off x="3486150" y="2324100"/>
            <a:ext cx="2324100" cy="742950"/>
          </a:xfrm>
          <a:prstGeom prst="roundRect">
            <a:avLst>
              <a:gd name="adj" fmla="val 15385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A16"/>
                </a:solidFill>
              </a:defRPr>
            </a:pPr>
            <a:r>
              <a:rPr sz="2100" b="1">
                <a:solidFill>
                  <a:srgbClr val="061A16"/>
                </a:solidFill>
              </a:rPr>
              <a:t>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79E30-8A00-4ED5-9E8D-2EDAE059DA47}"/>
              </a:ext>
            </a:extLst>
          </p:cNvPr>
          <p:cNvSpPr>
            <a:spLocks noGrp="1"/>
          </p:cNvSpPr>
          <p:nvPr/>
        </p:nvSpPr>
        <p:spPr>
          <a:xfrm>
            <a:off x="3638550" y="3333750"/>
            <a:ext cx="2019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Sector, CEO, Office Head, Minister, projects, affiliates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DCABB2-7AED-4673-AF06-BD259AFF412D}"/>
              </a:ext>
            </a:extLst>
          </p:cNvPr>
          <p:cNvSpPr>
            <a:spLocks noGrp="1"/>
          </p:cNvSpPr>
          <p:nvPr/>
        </p:nvSpPr>
        <p:spPr>
          <a:xfrm>
            <a:off x="6286500" y="2324100"/>
            <a:ext cx="2324100" cy="742950"/>
          </a:xfrm>
          <a:prstGeom prst="roundRect">
            <a:avLst>
              <a:gd name="adj" fmla="val 15385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A16"/>
                </a:solidFill>
              </a:defRPr>
            </a:pPr>
            <a:r>
              <a:rPr sz="2100" b="1">
                <a:solidFill>
                  <a:srgbClr val="061A16"/>
                </a:solidFill>
              </a:rPr>
              <a:t>Requests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68763-21CB-46F2-91BD-1CB756B84138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2019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Draft, submit, review, approve, reject, return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F90028-117F-48ED-933D-4629274DA409}"/>
              </a:ext>
            </a:extLst>
          </p:cNvPr>
          <p:cNvSpPr>
            <a:spLocks noGrp="1"/>
          </p:cNvSpPr>
          <p:nvPr/>
        </p:nvSpPr>
        <p:spPr>
          <a:xfrm>
            <a:off x="9086850" y="2324100"/>
            <a:ext cx="2324100" cy="742950"/>
          </a:xfrm>
          <a:prstGeom prst="roundRect">
            <a:avLst>
              <a:gd name="adj" fmla="val 15385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61A16"/>
                </a:solidFill>
              </a:defRPr>
            </a:pPr>
            <a:r>
              <a:rPr sz="2100" b="1">
                <a:solidFill>
                  <a:srgbClr val="061A16"/>
                </a:solidFill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746987-D448-4B8C-9050-5B073F2120B2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20193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Status timeline, notifications, reports, audit trail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5C30CE-4DFE-4843-AC09-7DFBCBE29DB8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2</a:t>
            </a:r>
          </a:p>
        </p:txBody>
      </p:sp>
    </p:spTree>
    <p:extLst>
      <p:ext uri="{BB962C8B-B14F-4D97-AF65-F5344CB8AC3E}">
        <p14:creationId xmlns:p14="http://schemas.microsoft.com/office/powerpoint/2010/main" val="142980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D59930-67EE-4127-A3A0-BF78CA1C6C0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F62FE3-5C91-488E-B6A9-73FC5087871E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Traveler Entry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D0345B-916D-44C6-8236-9E71D0E7D996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62481-566A-4B38-93A9-BB19EDBD6636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B6E2CF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61A16"/>
                </a:solidFill>
              </a:defRPr>
            </a:pPr>
            <a:r>
              <a:rPr sz="1725" b="1">
                <a:solidFill>
                  <a:srgbClr val="061A16"/>
                </a:solidFill>
              </a:rPr>
              <a:t>Staff under Lead Executive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4024C-73CA-4E9D-9BB2-68476364433B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413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Select sector/CEO/office and lead executive office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7AFB22-EDC8-448B-BDED-CA3994E704BC}"/>
              </a:ext>
            </a:extLst>
          </p:cNvPr>
          <p:cNvSpPr>
            <a:spLocks noGrp="1"/>
          </p:cNvSpPr>
          <p:nvPr/>
        </p:nvSpPr>
        <p:spPr>
          <a:xfrm>
            <a:off x="6305550" y="20955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B6E2CF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61A16"/>
                </a:solidFill>
              </a:defRPr>
            </a:pPr>
            <a:r>
              <a:rPr sz="1725" b="1">
                <a:solidFill>
                  <a:srgbClr val="061A16"/>
                </a:solidFill>
              </a:rPr>
              <a:t>Advisor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CF16A-953C-4417-8D5C-3E8B814A3D7D}"/>
              </a:ext>
            </a:extLst>
          </p:cNvPr>
          <p:cNvSpPr>
            <a:spLocks noGrp="1"/>
          </p:cNvSpPr>
          <p:nvPr/>
        </p:nvSpPr>
        <p:spPr>
          <a:xfrm>
            <a:off x="6477000" y="2895600"/>
            <a:ext cx="413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Select advisor under Minister, CEO, Office Head, or Sector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8EF643-05D6-4CE8-9E93-54067267CBEB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B6E2CF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61A16"/>
                </a:solidFill>
              </a:defRPr>
            </a:pPr>
            <a:r>
              <a:rPr sz="1725" b="1">
                <a:solidFill>
                  <a:srgbClr val="061A16"/>
                </a:solidFill>
              </a:rPr>
              <a:t>Project Staff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BC0DD0-F193-4F04-855E-7E6F7796A4E1}"/>
              </a:ext>
            </a:extLst>
          </p:cNvPr>
          <p:cNvSpPr>
            <a:spLocks noGrp="1"/>
          </p:cNvSpPr>
          <p:nvPr/>
        </p:nvSpPr>
        <p:spPr>
          <a:xfrm>
            <a:off x="1047750" y="4610100"/>
            <a:ext cx="413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Select project; parent structure is linked behind the scenes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E6389E-ECAE-4857-B3EB-3ACBF57493AB}"/>
              </a:ext>
            </a:extLst>
          </p:cNvPr>
          <p:cNvSpPr>
            <a:spLocks noGrp="1"/>
          </p:cNvSpPr>
          <p:nvPr/>
        </p:nvSpPr>
        <p:spPr>
          <a:xfrm>
            <a:off x="6305550" y="38100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E7F5EF"/>
          </a:solidFill>
          <a:ln w="9525">
            <a:solidFill>
              <a:srgbClr val="B6E2CF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61A16"/>
                </a:solidFill>
              </a:defRPr>
            </a:pPr>
            <a:r>
              <a:rPr sz="1725" b="1">
                <a:solidFill>
                  <a:srgbClr val="061A16"/>
                </a:solidFill>
              </a:rPr>
              <a:t>Affiliate Institute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98742-A7DC-4EBE-9DD3-6D7D003C873E}"/>
              </a:ext>
            </a:extLst>
          </p:cNvPr>
          <p:cNvSpPr>
            <a:spLocks noGrp="1"/>
          </p:cNvSpPr>
          <p:nvPr/>
        </p:nvSpPr>
        <p:spPr>
          <a:xfrm>
            <a:off x="6477000" y="4610100"/>
            <a:ext cx="413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Select affiliate institution; DG is default approver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548CA-2FD2-4144-9C05-6593ECA28BAD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3</a:t>
            </a:r>
          </a:p>
        </p:txBody>
      </p:sp>
    </p:spTree>
    <p:extLst>
      <p:ext uri="{BB962C8B-B14F-4D97-AF65-F5344CB8AC3E}">
        <p14:creationId xmlns:p14="http://schemas.microsoft.com/office/powerpoint/2010/main" val="80324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FAE27B-A3AB-4DC0-BECF-4C70F4284DE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5820EA-6EAB-4461-A757-55680A7CE89E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Core MoA Staff Route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DCCD08-AFE9-4607-B235-C980B6724B3F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361235-DAD4-4050-BF0B-CC0545144395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139065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Traveler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submits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012050-5FAF-4B71-9B41-2E73A5B4F1A8}"/>
              </a:ext>
            </a:extLst>
          </p:cNvPr>
          <p:cNvSpPr>
            <a:spLocks noGrp="1"/>
          </p:cNvSpPr>
          <p:nvPr/>
        </p:nvSpPr>
        <p:spPr>
          <a:xfrm>
            <a:off x="2552700" y="2705100"/>
            <a:ext cx="160020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Lead Executive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review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2D251D-E7DA-4162-805E-D10BB3A39B00}"/>
              </a:ext>
            </a:extLst>
          </p:cNvPr>
          <p:cNvSpPr>
            <a:spLocks noGrp="1"/>
          </p:cNvSpPr>
          <p:nvPr/>
        </p:nvSpPr>
        <p:spPr>
          <a:xfrm>
            <a:off x="4629150" y="2705100"/>
            <a:ext cx="160020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State Minister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or CEO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595F39-9121-47B1-9CE5-ADA685E069BF}"/>
              </a:ext>
            </a:extLst>
          </p:cNvPr>
          <p:cNvSpPr>
            <a:spLocks noGrp="1"/>
          </p:cNvSpPr>
          <p:nvPr/>
        </p:nvSpPr>
        <p:spPr>
          <a:xfrm>
            <a:off x="6705600" y="2705100"/>
            <a:ext cx="1600200" cy="914400"/>
          </a:xfrm>
          <a:prstGeom prst="roundRect">
            <a:avLst>
              <a:gd name="adj" fmla="val 12500"/>
            </a:avLst>
          </a:prstGeom>
          <a:solidFill>
            <a:srgbClr val="FFF4D6"/>
          </a:solidFill>
          <a:ln w="9525">
            <a:solidFill>
              <a:srgbClr val="F4C9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Protocol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clearance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6DC509-4CAE-4F53-A62D-152C8F360C1E}"/>
              </a:ext>
            </a:extLst>
          </p:cNvPr>
          <p:cNvSpPr>
            <a:spLocks noGrp="1"/>
          </p:cNvSpPr>
          <p:nvPr/>
        </p:nvSpPr>
        <p:spPr>
          <a:xfrm>
            <a:off x="8782050" y="2705100"/>
            <a:ext cx="173355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Office Head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final decision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26B488-D956-4188-B548-20A6D264D01D}"/>
              </a:ext>
            </a:extLst>
          </p:cNvPr>
          <p:cNvSpPr>
            <a:spLocks noGrp="1"/>
          </p:cNvSpPr>
          <p:nvPr/>
        </p:nvSpPr>
        <p:spPr>
          <a:xfrm>
            <a:off x="10858500" y="2705100"/>
            <a:ext cx="1047750" cy="914400"/>
          </a:xfrm>
          <a:prstGeom prst="roundRect">
            <a:avLst>
              <a:gd name="adj" fmla="val 12500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61A16"/>
                </a:solidFill>
              </a:defRPr>
            </a:pPr>
            <a:r>
              <a:rPr sz="1350" b="1">
                <a:solidFill>
                  <a:srgbClr val="061A16"/>
                </a:solidFill>
              </a:rPr>
              <a:t>Completed</a:t>
            </a:r>
          </a:p>
          <a:p>
            <a:pPr algn="ctr">
              <a:defRPr sz="1350" b="1">
                <a:solidFill>
                  <a:srgbClr val="061A16"/>
                </a:solidFill>
              </a:defRPr>
            </a:pPr>
            <a:r>
              <a:rPr sz="1350" b="1">
                <a:solidFill>
                  <a:srgbClr val="061A16"/>
                </a:solidFill>
              </a:rPr>
              <a:t>or PM route</a:t>
            </a:r>
          </a:p>
        </p:txBody>
      </p:sp>
      <p:cxnSp>
        <p:nvCxnSpPr>
          <p:cNvPr id="26" name="Straight Arrow Connector 25"/>
          <p:cNvCxnSpPr>
            <a:stCxn id="4" idx="3"/>
            <a:endCxn id="5" idx="1"/>
          </p:cNvCxnSpPr>
          <p:nvPr/>
        </p:nvCxnSpPr>
        <p:spPr>
          <a:xfrm>
            <a:off x="2076450" y="3162300"/>
            <a:ext cx="4762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5" idx="3"/>
            <a:endCxn id="6" idx="1"/>
          </p:cNvCxnSpPr>
          <p:nvPr/>
        </p:nvCxnSpPr>
        <p:spPr>
          <a:xfrm>
            <a:off x="4152900" y="3162300"/>
            <a:ext cx="4762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6" idx="3"/>
            <a:endCxn id="7" idx="1"/>
          </p:cNvCxnSpPr>
          <p:nvPr/>
        </p:nvCxnSpPr>
        <p:spPr>
          <a:xfrm>
            <a:off x="6229350" y="3162300"/>
            <a:ext cx="4762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7" idx="3"/>
            <a:endCxn id="8" idx="1"/>
          </p:cNvCxnSpPr>
          <p:nvPr/>
        </p:nvCxnSpPr>
        <p:spPr>
          <a:xfrm>
            <a:off x="8305800" y="3162300"/>
            <a:ext cx="4762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30" name="Straight Arrow Connector 29"/>
          <p:cNvCxnSpPr>
            <a:stCxn id="8" idx="3"/>
            <a:endCxn id="9" idx="1"/>
          </p:cNvCxnSpPr>
          <p:nvPr/>
        </p:nvCxnSpPr>
        <p:spPr>
          <a:xfrm>
            <a:off x="10515600" y="3162300"/>
            <a:ext cx="3429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8B5FE5E-EBE4-40E3-92A9-57CE4A86D641}"/>
              </a:ext>
            </a:extLst>
          </p:cNvPr>
          <p:cNvSpPr>
            <a:spLocks noGrp="1"/>
          </p:cNvSpPr>
          <p:nvPr/>
        </p:nvSpPr>
        <p:spPr>
          <a:xfrm>
            <a:off x="1047750" y="44577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When the traveler is also an approver, FTMS skips that user's own approval step and routes to the next valid approver.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4B013-E727-4564-98B5-5B6B629EBD45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4</a:t>
            </a:r>
          </a:p>
        </p:txBody>
      </p:sp>
    </p:spTree>
    <p:extLst>
      <p:ext uri="{BB962C8B-B14F-4D97-AF65-F5344CB8AC3E}">
        <p14:creationId xmlns:p14="http://schemas.microsoft.com/office/powerpoint/2010/main" val="153114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00D3CA-B110-437D-BFFE-453DAE177F2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3C5CEC-62F5-4887-9706-17871EF90B5F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Advisor and Project Routes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DE4FA-1852-450F-B5FA-BE185B445444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A9A685-A767-4224-876D-923EE2698C7F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1714500" cy="742950"/>
          </a:xfrm>
          <a:prstGeom prst="roundRect">
            <a:avLst>
              <a:gd name="adj" fmla="val 15385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Advisor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B4A5A2-0892-46F8-AF10-61EC17A6EFB2}"/>
              </a:ext>
            </a:extLst>
          </p:cNvPr>
          <p:cNvSpPr>
            <a:spLocks noGrp="1"/>
          </p:cNvSpPr>
          <p:nvPr/>
        </p:nvSpPr>
        <p:spPr>
          <a:xfrm>
            <a:off x="3867150" y="2152650"/>
            <a:ext cx="2476500" cy="1333500"/>
          </a:xfrm>
          <a:prstGeom prst="roundRect">
            <a:avLst>
              <a:gd name="adj" fmla="val 8571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Parent approver</a:t>
            </a:r>
          </a:p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State Minister / CEO</a:t>
            </a:r>
          </a:p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or Protocol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0C880E-A3E0-4E4B-AD79-99DF6F0BEFDF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1714500" cy="742950"/>
          </a:xfrm>
          <a:prstGeom prst="roundRect">
            <a:avLst>
              <a:gd name="adj" fmla="val 15385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Project Staff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9C8F47-3B3A-4E2F-89A6-6593693AE166}"/>
              </a:ext>
            </a:extLst>
          </p:cNvPr>
          <p:cNvSpPr>
            <a:spLocks noGrp="1"/>
          </p:cNvSpPr>
          <p:nvPr/>
        </p:nvSpPr>
        <p:spPr>
          <a:xfrm>
            <a:off x="3867150" y="4152900"/>
            <a:ext cx="2476500" cy="742950"/>
          </a:xfrm>
          <a:prstGeom prst="roundRect">
            <a:avLst>
              <a:gd name="adj" fmla="val 15385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Project Coordinator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F3F51A-2133-4A00-B1F8-D288F9EBA03A}"/>
              </a:ext>
            </a:extLst>
          </p:cNvPr>
          <p:cNvSpPr>
            <a:spLocks noGrp="1"/>
          </p:cNvSpPr>
          <p:nvPr/>
        </p:nvSpPr>
        <p:spPr>
          <a:xfrm>
            <a:off x="7600950" y="2990850"/>
            <a:ext cx="2000250" cy="895350"/>
          </a:xfrm>
          <a:prstGeom prst="roundRect">
            <a:avLst>
              <a:gd name="adj" fmla="val 12766"/>
            </a:avLst>
          </a:prstGeom>
          <a:solidFill>
            <a:srgbClr val="FFF4D6"/>
          </a:solidFill>
          <a:ln w="9525">
            <a:solidFill>
              <a:srgbClr val="F4C9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Protocol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clearance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F39265-4157-44E5-A810-D07B59E2BF6F}"/>
              </a:ext>
            </a:extLst>
          </p:cNvPr>
          <p:cNvSpPr>
            <a:spLocks noGrp="1"/>
          </p:cNvSpPr>
          <p:nvPr/>
        </p:nvSpPr>
        <p:spPr>
          <a:xfrm>
            <a:off x="10325100" y="2990850"/>
            <a:ext cx="1466850" cy="895350"/>
          </a:xfrm>
          <a:prstGeom prst="roundRect">
            <a:avLst>
              <a:gd name="adj" fmla="val 12766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61A16"/>
                </a:solidFill>
              </a:defRPr>
            </a:pPr>
            <a:r>
              <a:rPr sz="1425" b="1">
                <a:solidFill>
                  <a:srgbClr val="061A16"/>
                </a:solidFill>
              </a:rPr>
              <a:t>Office Head</a:t>
            </a:r>
          </a:p>
          <a:p>
            <a:pPr algn="ctr">
              <a:defRPr sz="1425" b="1">
                <a:solidFill>
                  <a:srgbClr val="061A16"/>
                </a:solidFill>
              </a:defRPr>
            </a:pPr>
            <a:r>
              <a:rPr sz="1425" b="1">
                <a:solidFill>
                  <a:srgbClr val="061A16"/>
                </a:solidFill>
              </a:rPr>
              <a:t>final decision</a:t>
            </a:r>
          </a:p>
        </p:txBody>
      </p:sp>
      <p:cxnSp>
        <p:nvCxnSpPr>
          <p:cNvPr id="26" name="Straight Arrow Connector 25"/>
          <p:cNvCxnSpPr>
            <a:stCxn id="4" idx="3"/>
            <a:endCxn id="5" idx="1"/>
          </p:cNvCxnSpPr>
          <p:nvPr/>
        </p:nvCxnSpPr>
        <p:spPr>
          <a:xfrm flipV="1">
            <a:off x="2628900" y="2819400"/>
            <a:ext cx="1238250" cy="9525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6" idx="3"/>
            <a:endCxn id="7" idx="1"/>
          </p:cNvCxnSpPr>
          <p:nvPr/>
        </p:nvCxnSpPr>
        <p:spPr>
          <a:xfrm>
            <a:off x="2628900" y="4524375"/>
            <a:ext cx="12382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5" idx="3"/>
            <a:endCxn id="8" idx="1"/>
          </p:cNvCxnSpPr>
          <p:nvPr/>
        </p:nvCxnSpPr>
        <p:spPr>
          <a:xfrm>
            <a:off x="6343650" y="2819400"/>
            <a:ext cx="1257300" cy="619125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7" idx="3"/>
            <a:endCxn id="8" idx="1"/>
          </p:cNvCxnSpPr>
          <p:nvPr/>
        </p:nvCxnSpPr>
        <p:spPr>
          <a:xfrm flipV="1">
            <a:off x="6343650" y="3438525"/>
            <a:ext cx="1257300" cy="108585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30" name="Straight Arrow Connector 29"/>
          <p:cNvCxnSpPr>
            <a:stCxn id="8" idx="3"/>
            <a:endCxn id="9" idx="1"/>
          </p:cNvCxnSpPr>
          <p:nvPr/>
        </p:nvCxnSpPr>
        <p:spPr>
          <a:xfrm>
            <a:off x="9601200" y="3438525"/>
            <a:ext cx="7239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2A0D24-3648-417A-9234-344B5DD1E87F}"/>
              </a:ext>
            </a:extLst>
          </p:cNvPr>
          <p:cNvSpPr>
            <a:spLocks noGrp="1"/>
          </p:cNvSpPr>
          <p:nvPr/>
        </p:nvSpPr>
        <p:spPr>
          <a:xfrm>
            <a:off x="914400" y="5467350"/>
            <a:ext cx="942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Project coordinators do not approve their own travel. If they submit a request, FTMS forwards it to the next stage.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282E50-B922-46D5-AC8C-7D8F6841E3F3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5</a:t>
            </a:r>
          </a:p>
        </p:txBody>
      </p:sp>
    </p:spTree>
    <p:extLst>
      <p:ext uri="{BB962C8B-B14F-4D97-AF65-F5344CB8AC3E}">
        <p14:creationId xmlns:p14="http://schemas.microsoft.com/office/powerpoint/2010/main" val="65052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45DD7C-B77B-45BC-861C-9476154CB7B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A1E144-1489-4FFE-9ED4-37CCDC6068A1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Affiliate Institute Route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C96F0-315E-444A-B2DD-D4568D78D3AD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FEF21C-CB87-4BED-8CE4-9EAE32089100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1619250" cy="895350"/>
          </a:xfrm>
          <a:prstGeom prst="roundRect">
            <a:avLst>
              <a:gd name="adj" fmla="val 12766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Affiliate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Traveler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BAC801-1AAF-4988-86E4-0E76BE5496E3}"/>
              </a:ext>
            </a:extLst>
          </p:cNvPr>
          <p:cNvSpPr>
            <a:spLocks noGrp="1"/>
          </p:cNvSpPr>
          <p:nvPr/>
        </p:nvSpPr>
        <p:spPr>
          <a:xfrm>
            <a:off x="3657600" y="2781300"/>
            <a:ext cx="1962150" cy="895350"/>
          </a:xfrm>
          <a:prstGeom prst="roundRect">
            <a:avLst>
              <a:gd name="adj" fmla="val 12766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Director General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review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5A0FBB-E833-46E1-BB08-04013F42A815}"/>
              </a:ext>
            </a:extLst>
          </p:cNvPr>
          <p:cNvSpPr>
            <a:spLocks noGrp="1"/>
          </p:cNvSpPr>
          <p:nvPr/>
        </p:nvSpPr>
        <p:spPr>
          <a:xfrm>
            <a:off x="6629400" y="2781300"/>
            <a:ext cx="1962150" cy="895350"/>
          </a:xfrm>
          <a:prstGeom prst="roundRect">
            <a:avLst>
              <a:gd name="adj" fmla="val 12766"/>
            </a:avLst>
          </a:prstGeom>
          <a:solidFill>
            <a:srgbClr val="FFF4D6"/>
          </a:solidFill>
          <a:ln w="9525">
            <a:solidFill>
              <a:srgbClr val="F4C9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Protocol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clearance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48EF41-CDF2-417D-A73C-1CE4549AFCFF}"/>
              </a:ext>
            </a:extLst>
          </p:cNvPr>
          <p:cNvSpPr>
            <a:spLocks noGrp="1"/>
          </p:cNvSpPr>
          <p:nvPr/>
        </p:nvSpPr>
        <p:spPr>
          <a:xfrm>
            <a:off x="9601200" y="2781300"/>
            <a:ext cx="1962150" cy="895350"/>
          </a:xfrm>
          <a:prstGeom prst="roundRect">
            <a:avLst>
              <a:gd name="adj" fmla="val 12766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Office Head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final decision</a:t>
            </a:r>
          </a:p>
        </p:txBody>
      </p:sp>
      <p:cxnSp>
        <p:nvCxnSpPr>
          <p:cNvPr id="20" name="Straight Arrow Connector 19"/>
          <p:cNvCxnSpPr>
            <a:stCxn id="4" idx="3"/>
            <a:endCxn id="5" idx="1"/>
          </p:cNvCxnSpPr>
          <p:nvPr/>
        </p:nvCxnSpPr>
        <p:spPr>
          <a:xfrm>
            <a:off x="2647950" y="3228975"/>
            <a:ext cx="10096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1" name="Straight Arrow Connector 20"/>
          <p:cNvCxnSpPr>
            <a:stCxn id="5" idx="3"/>
            <a:endCxn id="6" idx="1"/>
          </p:cNvCxnSpPr>
          <p:nvPr/>
        </p:nvCxnSpPr>
        <p:spPr>
          <a:xfrm>
            <a:off x="5619750" y="3228975"/>
            <a:ext cx="10096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2" name="Straight Arrow Connector 21"/>
          <p:cNvCxnSpPr>
            <a:stCxn id="6" idx="3"/>
            <a:endCxn id="7" idx="1"/>
          </p:cNvCxnSpPr>
          <p:nvPr/>
        </p:nvCxnSpPr>
        <p:spPr>
          <a:xfrm>
            <a:off x="8591550" y="3228975"/>
            <a:ext cx="100965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3B979-D087-4AF9-AAFA-B4898154CD4E}"/>
              </a:ext>
            </a:extLst>
          </p:cNvPr>
          <p:cNvSpPr>
            <a:spLocks noGrp="1"/>
          </p:cNvSpPr>
          <p:nvPr/>
        </p:nvSpPr>
        <p:spPr>
          <a:xfrm>
            <a:off x="1219200" y="4476750"/>
            <a:ext cx="971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The Director General is the default approver for travelers under the affiliate institute. If the Director General is the traveler, the request moves forward and avoids self-approval.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3D122C-0767-4F6E-8E51-4BC33AD06180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6</a:t>
            </a:r>
          </a:p>
        </p:txBody>
      </p:sp>
    </p:spTree>
    <p:extLst>
      <p:ext uri="{BB962C8B-B14F-4D97-AF65-F5344CB8AC3E}">
        <p14:creationId xmlns:p14="http://schemas.microsoft.com/office/powerpoint/2010/main" val="189552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0BA1EA-E2E4-414D-93C2-747876FA4EF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965EA-480E-472C-8CA8-CE2EC7C7856B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Protocol PM Decision Gate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CDD3B-6C6A-4038-A9D4-48A759EB9B6D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A0CDD2-F09B-4BC2-B254-83F6C167E3D2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2190750" cy="914400"/>
          </a:xfrm>
          <a:prstGeom prst="roundRect">
            <a:avLst>
              <a:gd name="adj" fmla="val 12500"/>
            </a:avLst>
          </a:prstGeom>
          <a:solidFill>
            <a:srgbClr val="FFF4D6"/>
          </a:solidFill>
          <a:ln w="9525">
            <a:solidFill>
              <a:srgbClr val="F4C9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Protocol reviews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all travelers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45B799-34B5-4EBB-AF05-3A314A2715D1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2381250" cy="838200"/>
          </a:xfrm>
          <a:prstGeom prst="roundRect">
            <a:avLst>
              <a:gd name="adj" fmla="val 13636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No PM approval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required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CC0F7E-8B1E-4AA7-A5F9-5EFB167D5482}"/>
              </a:ext>
            </a:extLst>
          </p:cNvPr>
          <p:cNvSpPr>
            <a:spLocks noGrp="1"/>
          </p:cNvSpPr>
          <p:nvPr/>
        </p:nvSpPr>
        <p:spPr>
          <a:xfrm>
            <a:off x="4476750" y="3943350"/>
            <a:ext cx="2381250" cy="838200"/>
          </a:xfrm>
          <a:prstGeom prst="roundRect">
            <a:avLst>
              <a:gd name="adj" fmla="val 13636"/>
            </a:avLst>
          </a:prstGeom>
          <a:solidFill>
            <a:srgbClr val="FCE8E8"/>
          </a:solidFill>
          <a:ln w="9525">
            <a:solidFill>
              <a:srgbClr val="F3B7B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PM approval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required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282A6C-B088-45E0-963C-C448BA51FD06}"/>
              </a:ext>
            </a:extLst>
          </p:cNvPr>
          <p:cNvSpPr>
            <a:spLocks noGrp="1"/>
          </p:cNvSpPr>
          <p:nvPr/>
        </p:nvSpPr>
        <p:spPr>
          <a:xfrm>
            <a:off x="8191500" y="2076450"/>
            <a:ext cx="2381250" cy="838200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Office Head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or Minister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D4511C-7C75-4D14-802C-4B5DACB0DE30}"/>
              </a:ext>
            </a:extLst>
          </p:cNvPr>
          <p:cNvSpPr>
            <a:spLocks noGrp="1"/>
          </p:cNvSpPr>
          <p:nvPr/>
        </p:nvSpPr>
        <p:spPr>
          <a:xfrm>
            <a:off x="8191500" y="3943350"/>
            <a:ext cx="2381250" cy="838200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PM Office</a:t>
            </a:r>
          </a:p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submission/follow-up</a:t>
            </a:r>
          </a:p>
        </p:txBody>
      </p:sp>
      <p:cxnSp>
        <p:nvCxnSpPr>
          <p:cNvPr id="22" name="Straight Arrow Connector 21"/>
          <p:cNvCxnSpPr>
            <a:stCxn id="4" idx="3"/>
            <a:endCxn id="5" idx="1"/>
          </p:cNvCxnSpPr>
          <p:nvPr/>
        </p:nvCxnSpPr>
        <p:spPr>
          <a:xfrm flipV="1">
            <a:off x="3105150" y="2495550"/>
            <a:ext cx="1371600" cy="72390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3" name="Straight Arrow Connector 22"/>
          <p:cNvCxnSpPr>
            <a:stCxn id="4" idx="3"/>
            <a:endCxn id="6" idx="1"/>
          </p:cNvCxnSpPr>
          <p:nvPr/>
        </p:nvCxnSpPr>
        <p:spPr>
          <a:xfrm>
            <a:off x="3105150" y="3219450"/>
            <a:ext cx="1371600" cy="114300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4" name="Straight Arrow Connector 23"/>
          <p:cNvCxnSpPr>
            <a:stCxn id="5" idx="3"/>
            <a:endCxn id="7" idx="1"/>
          </p:cNvCxnSpPr>
          <p:nvPr/>
        </p:nvCxnSpPr>
        <p:spPr>
          <a:xfrm>
            <a:off x="6858000" y="2495550"/>
            <a:ext cx="13335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5" name="Straight Arrow Connector 24"/>
          <p:cNvCxnSpPr>
            <a:stCxn id="6" idx="3"/>
            <a:endCxn id="8" idx="1"/>
          </p:cNvCxnSpPr>
          <p:nvPr/>
        </p:nvCxnSpPr>
        <p:spPr>
          <a:xfrm>
            <a:off x="6858000" y="4362450"/>
            <a:ext cx="13335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557D4-7D4D-43D0-B4AE-AD7ED85D68D0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7</a:t>
            </a:r>
          </a:p>
        </p:txBody>
      </p:sp>
    </p:spTree>
    <p:extLst>
      <p:ext uri="{BB962C8B-B14F-4D97-AF65-F5344CB8AC3E}">
        <p14:creationId xmlns:p14="http://schemas.microsoft.com/office/powerpoint/2010/main" val="58856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F47E23-9C69-474E-A0E7-7909CAC78ED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368E5C-D555-490B-BC6A-4BA532ECED46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Office Head Final Options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370621-CF22-4342-BDAF-D7F4850A036A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04C0F-C5D2-4E46-AE71-4B3E628FECA5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238125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Head of the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Minister's Office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29C83C-F64B-4E38-A1F7-E17A012923DE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1714500" cy="666750"/>
          </a:xfrm>
          <a:prstGeom prst="roundRect">
            <a:avLst>
              <a:gd name="adj" fmla="val 17143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Approve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C4B13E-3812-445D-8469-53D7B230AAB9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1714500" cy="666750"/>
          </a:xfrm>
          <a:prstGeom prst="roundRect">
            <a:avLst>
              <a:gd name="adj" fmla="val 17143"/>
            </a:avLst>
          </a:prstGeom>
          <a:solidFill>
            <a:srgbClr val="FCE8E8"/>
          </a:solidFill>
          <a:ln w="9525">
            <a:solidFill>
              <a:srgbClr val="F3B7B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Reject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B6366C-FC95-40CC-9686-C908103FC9EC}"/>
              </a:ext>
            </a:extLst>
          </p:cNvPr>
          <p:cNvSpPr>
            <a:spLocks noGrp="1"/>
          </p:cNvSpPr>
          <p:nvPr/>
        </p:nvSpPr>
        <p:spPr>
          <a:xfrm>
            <a:off x="4857750" y="4286250"/>
            <a:ext cx="2095500" cy="762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Forward to</a:t>
            </a:r>
          </a:p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Minister with note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1DE32A-E067-4033-88B7-1B77C73CD894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2095500" cy="666750"/>
          </a:xfrm>
          <a:prstGeom prst="roundRect">
            <a:avLst>
              <a:gd name="adj" fmla="val 17143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Completed</a:t>
            </a:r>
          </a:p>
          <a:p>
            <a:pPr algn="ctr">
              <a:defRPr sz="1575" b="1">
                <a:solidFill>
                  <a:srgbClr val="061A16"/>
                </a:solidFill>
              </a:defRPr>
            </a:pPr>
            <a:r>
              <a:rPr sz="1575" b="1">
                <a:solidFill>
                  <a:srgbClr val="061A16"/>
                </a:solidFill>
              </a:rPr>
              <a:t>or PM route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1EB247-29ED-4E04-9AF6-55C083097D50}"/>
              </a:ext>
            </a:extLst>
          </p:cNvPr>
          <p:cNvSpPr>
            <a:spLocks noGrp="1"/>
          </p:cNvSpPr>
          <p:nvPr/>
        </p:nvSpPr>
        <p:spPr>
          <a:xfrm>
            <a:off x="8477250" y="4286250"/>
            <a:ext cx="2095500" cy="762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Minister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decision</a:t>
            </a:r>
          </a:p>
        </p:txBody>
      </p:sp>
      <p:cxnSp>
        <p:nvCxnSpPr>
          <p:cNvPr id="25" name="Straight Arrow Connector 24"/>
          <p:cNvCxnSpPr>
            <a:stCxn id="4" idx="3"/>
            <a:endCxn id="5" idx="1"/>
          </p:cNvCxnSpPr>
          <p:nvPr/>
        </p:nvCxnSpPr>
        <p:spPr>
          <a:xfrm flipV="1">
            <a:off x="3429000" y="2333625"/>
            <a:ext cx="1428750" cy="1095375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6" name="Straight Arrow Connector 25"/>
          <p:cNvCxnSpPr>
            <a:stCxn id="4" idx="3"/>
            <a:endCxn id="6" idx="1"/>
          </p:cNvCxnSpPr>
          <p:nvPr/>
        </p:nvCxnSpPr>
        <p:spPr>
          <a:xfrm>
            <a:off x="3429000" y="3429000"/>
            <a:ext cx="1428750" cy="47625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4" idx="3"/>
            <a:endCxn id="7" idx="1"/>
          </p:cNvCxnSpPr>
          <p:nvPr/>
        </p:nvCxnSpPr>
        <p:spPr>
          <a:xfrm>
            <a:off x="3429000" y="3429000"/>
            <a:ext cx="1428750" cy="123825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5" idx="3"/>
            <a:endCxn id="8" idx="1"/>
          </p:cNvCxnSpPr>
          <p:nvPr/>
        </p:nvCxnSpPr>
        <p:spPr>
          <a:xfrm>
            <a:off x="6572250" y="2333625"/>
            <a:ext cx="19050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7" idx="3"/>
            <a:endCxn id="9" idx="1"/>
          </p:cNvCxnSpPr>
          <p:nvPr/>
        </p:nvCxnSpPr>
        <p:spPr>
          <a:xfrm>
            <a:off x="6953250" y="4667250"/>
            <a:ext cx="1524000" cy="0"/>
          </a:xfrm>
          <a:prstGeom prst="straightConnector1">
            <a:avLst/>
          </a:prstGeom>
          <a:ln w="19050">
            <a:solidFill>
              <a:srgbClr val="0B5D45"/>
            </a:solidFill>
            <a:prstDash val="solid"/>
            <a:tailEnd type="arrow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9B9277F-EE6E-4EB9-973A-CF28233D61FD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8</a:t>
            </a:r>
          </a:p>
        </p:txBody>
      </p:sp>
    </p:spTree>
    <p:extLst>
      <p:ext uri="{BB962C8B-B14F-4D97-AF65-F5344CB8AC3E}">
        <p14:creationId xmlns:p14="http://schemas.microsoft.com/office/powerpoint/2010/main" val="53424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9173AC7-3ACE-4A26-967A-4CE51FAFD49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5D45"/>
                </a:solidFill>
              </a:defRPr>
            </a:pPr>
            <a:r>
              <a:rPr sz="1200" b="1">
                <a:solidFill>
                  <a:srgbClr val="0B5D45"/>
                </a:solidFill>
              </a:rPr>
              <a:t>FTMS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C1210-A996-44F1-9A39-748CCD960C0E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61A16"/>
                </a:solidFill>
              </a:defRPr>
            </a:pPr>
            <a:r>
              <a:rPr sz="3600" b="1">
                <a:solidFill>
                  <a:srgbClr val="061A16"/>
                </a:solidFill>
              </a:rPr>
              <a:t>Status, Notifications, and Reports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FE975-5603-4024-9C68-C6EC12EC9518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78B649-DFCE-4742-9C63-37B520876A2E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095500" cy="914400"/>
          </a:xfrm>
          <a:prstGeom prst="roundRect">
            <a:avLst>
              <a:gd name="adj" fmla="val 12500"/>
            </a:avLst>
          </a:prstGeom>
          <a:solidFill>
            <a:srgbClr val="E7F5E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Green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completed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FF7124-38BE-4CDB-AA0C-9FE8A2245143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2095500" cy="914400"/>
          </a:xfrm>
          <a:prstGeom prst="roundRect">
            <a:avLst>
              <a:gd name="adj" fmla="val 12500"/>
            </a:avLst>
          </a:prstGeom>
          <a:solidFill>
            <a:srgbClr val="FFF4D6"/>
          </a:solidFill>
          <a:ln w="9525">
            <a:solidFill>
              <a:srgbClr val="F4C9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Amber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current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035949-53F7-4734-B889-009984FB3967}"/>
              </a:ext>
            </a:extLst>
          </p:cNvPr>
          <p:cNvSpPr>
            <a:spLocks noGrp="1"/>
          </p:cNvSpPr>
          <p:nvPr/>
        </p:nvSpPr>
        <p:spPr>
          <a:xfrm>
            <a:off x="6553200" y="2381250"/>
            <a:ext cx="2095500" cy="914400"/>
          </a:xfrm>
          <a:prstGeom prst="roundRect">
            <a:avLst>
              <a:gd name="adj" fmla="val 12500"/>
            </a:avLst>
          </a:prstGeom>
          <a:solidFill>
            <a:srgbClr val="FCE8E8"/>
          </a:solidFill>
          <a:ln w="9525">
            <a:solidFill>
              <a:srgbClr val="F3B7B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Light red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upcoming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69C89E-1DBC-446B-A16C-D7C088F4C7C9}"/>
              </a:ext>
            </a:extLst>
          </p:cNvPr>
          <p:cNvSpPr>
            <a:spLocks noGrp="1"/>
          </p:cNvSpPr>
          <p:nvPr/>
        </p:nvSpPr>
        <p:spPr>
          <a:xfrm>
            <a:off x="9391650" y="2381250"/>
            <a:ext cx="2095500" cy="914400"/>
          </a:xfrm>
          <a:prstGeom prst="roundRect">
            <a:avLst>
              <a:gd name="adj" fmla="val 12500"/>
            </a:avLst>
          </a:prstGeom>
          <a:solidFill>
            <a:srgbClr val="F3F6F8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Dotted</a:t>
            </a:r>
          </a:p>
          <a:p>
            <a:pPr algn="ctr">
              <a:defRPr sz="1500" b="1">
                <a:solidFill>
                  <a:srgbClr val="061A16"/>
                </a:solidFill>
              </a:defRPr>
            </a:pPr>
            <a:r>
              <a:rPr sz="1500" b="1">
                <a:solidFill>
                  <a:srgbClr val="061A16"/>
                </a:solidFill>
              </a:rPr>
              <a:t>optional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B7E84-3941-4AE2-A213-61E9B5FE288D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Timeline shows approver names, approval dates, current-stage reached date, and pending days.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164054-4D3B-4621-A19E-D80A3E266E1A}"/>
              </a:ext>
            </a:extLst>
          </p:cNvPr>
          <p:cNvSpPr>
            <a:spLocks noGrp="1"/>
          </p:cNvSpPr>
          <p:nvPr/>
        </p:nvSpPr>
        <p:spPr>
          <a:xfrm>
            <a:off x="1066800" y="48577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Reports show monthly approved travel, MoA vs Affiliate travel, MoA sectors, Affiliate organizations, and funding patterns.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3E2DF-01EA-4327-A7F6-BDBBFEC98CCB}"/>
              </a:ext>
            </a:extLst>
          </p:cNvPr>
          <p:cNvSpPr>
            <a:spLocks noGrp="1"/>
          </p:cNvSpPr>
          <p:nvPr/>
        </p:nvSpPr>
        <p:spPr>
          <a:xfrm>
            <a:off x="10287000" y="6343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FTMS travel flow | 9</a:t>
            </a:r>
          </a:p>
        </p:txBody>
      </p:sp>
    </p:spTree>
    <p:extLst>
      <p:ext uri="{BB962C8B-B14F-4D97-AF65-F5344CB8AC3E}">
        <p14:creationId xmlns:p14="http://schemas.microsoft.com/office/powerpoint/2010/main" val="12041766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DocSecurity>0</DocSecurity>
  <PresentationFormat>Widescreen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Yosef Getachew</cp:lastModifiedBy>
  <cp:revision>1</cp:revision>
  <dcterms:created xsi:type="dcterms:W3CDTF">2026-06-24T08:18:27Z</dcterms:created>
  <dcterms:modified xsi:type="dcterms:W3CDTF">2026-06-24T08:20:40Z</dcterms:modified>
</cp:coreProperties>
</file>